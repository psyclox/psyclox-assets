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4"/>
  </p:notesMasterIdLst>
  <p:sldIdLst>
    <p:sldId id="263" r:id="rId2"/>
    <p:sldId id="257" r:id="rId3"/>
    <p:sldId id="258" r:id="rId4"/>
    <p:sldId id="264" r:id="rId5"/>
    <p:sldId id="270" r:id="rId6"/>
    <p:sldId id="268" r:id="rId7"/>
    <p:sldId id="269" r:id="rId8"/>
    <p:sldId id="260" r:id="rId9"/>
    <p:sldId id="272" r:id="rId10"/>
    <p:sldId id="261" r:id="rId11"/>
    <p:sldId id="262" r:id="rId12"/>
    <p:sldId id="273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arthikeyan" initials="k" lastIdx="1" clrIdx="0">
    <p:extLst>
      <p:ext uri="{19B8F6BF-5375-455C-9EA6-DF929625EA0E}">
        <p15:presenceInfo xmlns:p15="http://schemas.microsoft.com/office/powerpoint/2012/main" userId="karthikeya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2" autoAdjust="0"/>
    <p:restoredTop sz="94660" autoAdjust="0"/>
  </p:normalViewPr>
  <p:slideViewPr>
    <p:cSldViewPr snapToGrid="0">
      <p:cViewPr varScale="1">
        <p:scale>
          <a:sx n="56" d="100"/>
          <a:sy n="56" d="100"/>
        </p:scale>
        <p:origin x="84" y="4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C5AC3B-F62F-44A6-A5AB-F16EE4B8B5FE}" type="datetimeFigureOut">
              <a:rPr lang="en-IN" smtClean="0"/>
              <a:t>14-10-2024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0B4481-D00A-4748-A835-8D0208798E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71804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28-09-2024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36921-CE65-47C0-AAD1-DA18824D59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6802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IN" dirty="0"/>
              <a:t>28-09-2024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IN" dirty="0"/>
              <a:t>EGSPEC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fld id="{DE39A3CD-3BD6-4988-A40F-2685DD886A93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5664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6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28-09-2024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36921-CE65-47C0-AAD1-DA18824D59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4930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28-09-2024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36921-CE65-47C0-AAD1-DA18824D59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31132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28-09-2024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36921-CE65-47C0-AAD1-DA18824D59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1339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28-09-2024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36921-CE65-47C0-AAD1-DA18824D59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87061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28-09-2024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36921-CE65-47C0-AAD1-DA18824D59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3295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28-09-2024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36921-CE65-47C0-AAD1-DA18824D59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26631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28-09-2024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36921-CE65-47C0-AAD1-DA18824D59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33682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28-09-2024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36921-CE65-47C0-AAD1-DA18824D59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77737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28-09-2024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36921-CE65-47C0-AAD1-DA18824D59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9381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IN"/>
              <a:t>28-09-2024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936921-CE65-47C0-AAD1-DA18824D59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5760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5A17C-FA6D-6825-C3B7-C819BB175B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323" y="68827"/>
            <a:ext cx="8947356" cy="143059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Robust  Protection  Plug-in  For Sensitive  Cloud Storage  Data</a:t>
            </a:r>
            <a:endParaRPr lang="en-IN" sz="4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CC2779-9C25-6258-ADB5-25DE902256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" y="5506067"/>
            <a:ext cx="9143999" cy="1351935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>
            <a:noAutofit/>
          </a:bodyPr>
          <a:lstStyle/>
          <a:p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Department of Computer Science And Business System </a:t>
            </a:r>
          </a:p>
          <a:p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E.G.S. Pillay Engineering College (Autonomous)</a:t>
            </a:r>
          </a:p>
          <a:p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Nagapattinam, Tamilnadu.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73A35E-6636-673B-8CF4-843C1F14ADF6}"/>
              </a:ext>
            </a:extLst>
          </p:cNvPr>
          <p:cNvSpPr txBox="1"/>
          <p:nvPr/>
        </p:nvSpPr>
        <p:spPr>
          <a:xfrm>
            <a:off x="2355508" y="1665110"/>
            <a:ext cx="443298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SANTHOSH .M           </a:t>
            </a: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	  </a:t>
            </a:r>
            <a:r>
              <a:rPr lang="en-US" sz="2000" b="1" dirty="0"/>
              <a:t>8208E21BSR050</a:t>
            </a:r>
          </a:p>
          <a:p>
            <a:r>
              <a:rPr lang="en-IN" sz="2000" dirty="0"/>
              <a:t>KARTHIKEYAN .N       </a:t>
            </a:r>
            <a:r>
              <a:rPr lang="en-IN" sz="2000" b="1" dirty="0"/>
              <a:t>-</a:t>
            </a:r>
            <a:r>
              <a:rPr lang="en-IN" sz="2000" dirty="0"/>
              <a:t>    </a:t>
            </a:r>
            <a:r>
              <a:rPr lang="en-US" sz="2000" b="1" dirty="0"/>
              <a:t>820</a:t>
            </a:r>
            <a:r>
              <a:rPr lang="en-IN" sz="2000" b="1" dirty="0"/>
              <a:t>8E21BSR028</a:t>
            </a:r>
            <a:endParaRPr lang="en-IN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/>
              <a:t>MD HASHIF .H	     </a:t>
            </a: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	  </a:t>
            </a:r>
            <a:r>
              <a:rPr lang="en-US" sz="2000" b="1" dirty="0"/>
              <a:t>820</a:t>
            </a:r>
            <a:r>
              <a:rPr lang="en-IN" sz="2000" b="1" dirty="0"/>
              <a:t>8E21BSR034</a:t>
            </a:r>
            <a:endParaRPr lang="en-US" sz="2000" b="1" dirty="0"/>
          </a:p>
          <a:p>
            <a:endParaRPr lang="en-IN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2567F7-2A3C-901D-97CB-8B7D9DDE80DC}"/>
              </a:ext>
            </a:extLst>
          </p:cNvPr>
          <p:cNvSpPr txBox="1"/>
          <p:nvPr/>
        </p:nvSpPr>
        <p:spPr>
          <a:xfrm>
            <a:off x="2413822" y="2816944"/>
            <a:ext cx="437466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 the guidance of</a:t>
            </a:r>
            <a:endParaRPr lang="en-IN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IN" sz="2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Dr.</a:t>
            </a: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P. ANANDRAJ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Assistant professor  &amp; HOD </a:t>
            </a:r>
          </a:p>
        </p:txBody>
      </p:sp>
      <p:pic>
        <p:nvPicPr>
          <p:cNvPr id="1026" name="Picture 2" descr="E G S Pillay Engineering College">
            <a:extLst>
              <a:ext uri="{FF2B5EF4-FFF2-40B4-BE49-F238E27FC236}">
                <a16:creationId xmlns:a16="http://schemas.microsoft.com/office/drawing/2014/main" id="{389CD0D9-AE7A-6317-2EB7-5D40B148A3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5518" y="3879264"/>
            <a:ext cx="1653961" cy="1479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77763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3620D-230F-F6B5-1EDB-54F7B9037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1" y="365128"/>
            <a:ext cx="7886700" cy="844243"/>
          </a:xfrm>
        </p:spPr>
        <p:txBody>
          <a:bodyPr>
            <a:normAutofit/>
          </a:bodyPr>
          <a:lstStyle/>
          <a:p>
            <a:pPr algn="ctr"/>
            <a:r>
              <a:rPr lang="en-I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Presentation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8257D-7608-F45D-75AF-999C4F6EFC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 statement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Literature Review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Feasibility of the proposed project work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Identification of objectives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Methodology of the Proposed Work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D40C5C-137F-270B-76EF-7448C8FF5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b="1" dirty="0"/>
              <a:t>28-09-2024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59112-4CED-EF07-0F0C-E7AEF6C88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EGSPEC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57C2C1-85F3-9E7B-A7D0-B339AEA03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4C6DA-5C11-4692-9E76-4315245659F2}" type="slidenum">
              <a:rPr lang="en-IN" b="1" smtClean="0"/>
              <a:t>2</a:t>
            </a:fld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6700304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3620D-230F-F6B5-1EDB-54F7B9037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1" y="365128"/>
            <a:ext cx="7886700" cy="844243"/>
          </a:xfrm>
        </p:spPr>
        <p:txBody>
          <a:bodyPr>
            <a:normAutofit/>
          </a:bodyPr>
          <a:lstStyle/>
          <a:p>
            <a:pPr algn="ctr"/>
            <a:r>
              <a:rPr lang="en-I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8257D-7608-F45D-75AF-999C4F6EFC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0270" y="1546411"/>
            <a:ext cx="7570695" cy="4289613"/>
          </a:xfrm>
        </p:spPr>
        <p:txBody>
          <a:bodyPr>
            <a:normAutofit fontScale="92500" lnSpcReduction="20000"/>
          </a:bodyPr>
          <a:lstStyle/>
          <a:p>
            <a:pPr marL="745200" lvl="1" indent="-64800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 the frequency of cyberattacks and insider threats increases, unencrypted cloud data becomes highly vulnerable to exploitation.</a:t>
            </a:r>
          </a:p>
          <a:p>
            <a:pPr marL="745200" lvl="1" indent="-648000"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GB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5200" lvl="1" indent="-64800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Without encryption, sensitive information can be exposed to ransomware, data tampering, and unauthorized surveillance.</a:t>
            </a:r>
          </a:p>
          <a:p>
            <a:pPr marL="745200" lvl="1" indent="-648000"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GB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5200" lvl="1" indent="-64800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meet compliance requirements and mitigate security risks, organizations must adopt robust encryption strategies for their cloud storage systems </a:t>
            </a:r>
            <a:endParaRPr lang="en-IN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D40C5C-137F-270B-76EF-7448C8FF5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b="1" dirty="0"/>
              <a:t>28-09-2024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59112-4CED-EF07-0F0C-E7AEF6C88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EGSPEC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57C2C1-85F3-9E7B-A7D0-B339AEA03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4C6DA-5C11-4692-9E76-4315245659F2}" type="slidenum">
              <a:rPr lang="en-IN" smtClean="0"/>
              <a:t>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30395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ECB43-EBF4-32F6-3F0D-39BC13178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1124" y="0"/>
            <a:ext cx="7886700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</a:t>
            </a:r>
            <a:r>
              <a:rPr lang="en-I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 Statement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35D8BC-7731-665B-334A-EA74B4E7FC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035424"/>
            <a:ext cx="8044702" cy="5320928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GB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Unauthorized Access</a:t>
            </a:r>
            <a:r>
              <a:rPr lang="en-GB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Sensitive data can be accessed by unauthorized users, including malicious insiders.</a:t>
            </a:r>
          </a:p>
          <a:p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Breaches</a:t>
            </a:r>
            <a:r>
              <a:rPr lang="en-GB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Leaked or stolen data might be exploited by attackers if not encrypted</a:t>
            </a:r>
            <a:r>
              <a:rPr lang="en-GB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Keyword Guessing Attacks (KGA):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Attackers or cloud providers may guess sensitive information from encrypted data.</a:t>
            </a:r>
          </a:p>
          <a:p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Tampering</a:t>
            </a:r>
            <a:r>
              <a:rPr lang="en-GB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Sensitive data could be modified by malicious entities in the cloud.</a:t>
            </a:r>
          </a:p>
          <a:p>
            <a:pPr marL="0" indent="0">
              <a:buNone/>
            </a:pPr>
            <a:endParaRPr lang="en-GB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653180-5F29-B9C5-218E-88A7DA08E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28-09-2024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929D5F-92F3-EF61-015E-BF5B34DF4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EGSPEC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427D2D-6000-72E1-6902-FA8559980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9A3CD-3BD6-4988-A40F-2685DD886A93}" type="slidenum">
              <a:rPr lang="en-IN" smtClean="0"/>
              <a:pPr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51477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3620D-230F-F6B5-1EDB-54F7B9037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1" y="365128"/>
            <a:ext cx="7886700" cy="844243"/>
          </a:xfrm>
        </p:spPr>
        <p:txBody>
          <a:bodyPr>
            <a:normAutofit fontScale="90000"/>
          </a:bodyPr>
          <a:lstStyle/>
          <a:p>
            <a:pPr algn="ctr"/>
            <a:r>
              <a:rPr lang="en-I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Literature Review</a:t>
            </a:r>
            <a:br>
              <a:rPr lang="en-IN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D40C5C-137F-270B-76EF-7448C8FF5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b="1" dirty="0"/>
              <a:t>28-09-2024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59112-4CED-EF07-0F0C-E7AEF6C88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EGSPEC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57C2C1-85F3-9E7B-A7D0-B339AEA03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4C6DA-5C11-4692-9E76-4315245659F2}" type="slidenum">
              <a:rPr lang="en-IN" smtClean="0"/>
              <a:t>5</a:t>
            </a:fld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721523-CC1C-4BED-B179-0CC2160539B2}"/>
              </a:ext>
            </a:extLst>
          </p:cNvPr>
          <p:cNvSpPr txBox="1"/>
          <p:nvPr/>
        </p:nvSpPr>
        <p:spPr>
          <a:xfrm>
            <a:off x="720812" y="924374"/>
            <a:ext cx="779453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GB" sz="2400" dirty="0"/>
            </a:br>
            <a:r>
              <a:rPr lang="en-GB" sz="2400" dirty="0"/>
              <a:t>This paper explores the use of attribute-based encryption to ensure privacy-preserving access control in cloud storage systems. It addresses the challenges of balancing security and usability in cloud environments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3080507-9B1F-4DD5-9C25-306B310156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3133114"/>
              </p:ext>
            </p:extLst>
          </p:nvPr>
        </p:nvGraphicFramePr>
        <p:xfrm>
          <a:off x="720812" y="3003239"/>
          <a:ext cx="7794538" cy="29303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7269">
                  <a:extLst>
                    <a:ext uri="{9D8B030D-6E8A-4147-A177-3AD203B41FA5}">
                      <a16:colId xmlns:a16="http://schemas.microsoft.com/office/drawing/2014/main" val="3360183851"/>
                    </a:ext>
                  </a:extLst>
                </a:gridCol>
                <a:gridCol w="3897269">
                  <a:extLst>
                    <a:ext uri="{9D8B030D-6E8A-4147-A177-3AD203B41FA5}">
                      <a16:colId xmlns:a16="http://schemas.microsoft.com/office/drawing/2014/main" val="4133117074"/>
                    </a:ext>
                  </a:extLst>
                </a:gridCol>
              </a:tblGrid>
              <a:tr h="761410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Journals details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Key points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5814772"/>
                  </a:ext>
                </a:extLst>
              </a:tr>
              <a:tr h="2168977">
                <a:tc>
                  <a:txBody>
                    <a:bodyPr/>
                    <a:lstStyle/>
                    <a:p>
                      <a:r>
                        <a:rPr lang="en-IN" sz="1800" dirty="0"/>
                        <a:t>Title </a:t>
                      </a:r>
                    </a:p>
                    <a:p>
                      <a:endParaRPr lang="en-IN" sz="1800" dirty="0"/>
                    </a:p>
                    <a:p>
                      <a:endParaRPr lang="en-IN" sz="1800" dirty="0"/>
                    </a:p>
                    <a:p>
                      <a:endParaRPr lang="en-IN" sz="1800" dirty="0"/>
                    </a:p>
                    <a:p>
                      <a:r>
                        <a:rPr lang="en-IN" sz="1800" dirty="0"/>
                        <a:t>Author    </a:t>
                      </a:r>
                    </a:p>
                    <a:p>
                      <a:r>
                        <a:rPr lang="en-IN" sz="1800" dirty="0"/>
                        <a:t>Year of Publication</a:t>
                      </a:r>
                    </a:p>
                    <a:p>
                      <a:r>
                        <a:rPr lang="en-IN" sz="1800" dirty="0"/>
                        <a:t>Journal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GB" dirty="0"/>
                        <a:t>Searchable Public-Key Encryption With Cryptographic Reverse Firewalls for Cloud Storage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endParaRPr lang="en-GB" sz="1800" dirty="0"/>
                    </a:p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IN" dirty="0" err="1"/>
                        <a:t>Yuyang</a:t>
                      </a:r>
                      <a:r>
                        <a:rPr lang="en-IN" dirty="0"/>
                        <a:t> Zhou , </a:t>
                      </a:r>
                      <a:r>
                        <a:rPr lang="en-IN" dirty="0" err="1"/>
                        <a:t>Zhebin</a:t>
                      </a:r>
                      <a:r>
                        <a:rPr lang="en-IN" dirty="0"/>
                        <a:t> Hu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IN" sz="1800" dirty="0"/>
                        <a:t>2023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GB" sz="1800" dirty="0"/>
                        <a:t>IEEE</a:t>
                      </a:r>
                      <a:r>
                        <a:rPr lang="en-IN" dirty="0"/>
                        <a:t> Xplore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80109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8710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3620D-230F-F6B5-1EDB-54F7B9037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1" y="365128"/>
            <a:ext cx="7886700" cy="844243"/>
          </a:xfrm>
        </p:spPr>
        <p:txBody>
          <a:bodyPr>
            <a:normAutofit fontScale="90000"/>
          </a:bodyPr>
          <a:lstStyle/>
          <a:p>
            <a:pPr algn="ctr"/>
            <a:r>
              <a:rPr lang="en-I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Literature Review</a:t>
            </a:r>
            <a:br>
              <a:rPr lang="en-IN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D40C5C-137F-270B-76EF-7448C8FF5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b="1" dirty="0"/>
              <a:t>28-09-2024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59112-4CED-EF07-0F0C-E7AEF6C88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EGSPEC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57C2C1-85F3-9E7B-A7D0-B339AEA03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4C6DA-5C11-4692-9E76-4315245659F2}" type="slidenum">
              <a:rPr lang="en-IN" smtClean="0"/>
              <a:t>6</a:t>
            </a:fld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721523-CC1C-4BED-B179-0CC2160539B2}"/>
              </a:ext>
            </a:extLst>
          </p:cNvPr>
          <p:cNvSpPr txBox="1"/>
          <p:nvPr/>
        </p:nvSpPr>
        <p:spPr>
          <a:xfrm>
            <a:off x="720812" y="1455867"/>
            <a:ext cx="77945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This study presents a Client Side Encryption in cloud networks, optimizing the balance between data security. It identifies and tackles current challenges in encrypted data .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824404B-482C-4986-B193-DE247730A5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0863760"/>
              </p:ext>
            </p:extLst>
          </p:nvPr>
        </p:nvGraphicFramePr>
        <p:xfrm>
          <a:off x="720812" y="3140886"/>
          <a:ext cx="7794538" cy="26545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7269">
                  <a:extLst>
                    <a:ext uri="{9D8B030D-6E8A-4147-A177-3AD203B41FA5}">
                      <a16:colId xmlns:a16="http://schemas.microsoft.com/office/drawing/2014/main" val="3360183851"/>
                    </a:ext>
                  </a:extLst>
                </a:gridCol>
                <a:gridCol w="3897269">
                  <a:extLst>
                    <a:ext uri="{9D8B030D-6E8A-4147-A177-3AD203B41FA5}">
                      <a16:colId xmlns:a16="http://schemas.microsoft.com/office/drawing/2014/main" val="4133117074"/>
                    </a:ext>
                  </a:extLst>
                </a:gridCol>
              </a:tblGrid>
              <a:tr h="719097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Journals details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Key points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5814772"/>
                  </a:ext>
                </a:extLst>
              </a:tr>
              <a:tr h="1773112">
                <a:tc>
                  <a:txBody>
                    <a:bodyPr/>
                    <a:lstStyle/>
                    <a:p>
                      <a:r>
                        <a:rPr lang="en-IN" sz="1800" dirty="0"/>
                        <a:t>Title </a:t>
                      </a:r>
                    </a:p>
                    <a:p>
                      <a:endParaRPr lang="en-IN" sz="1800" dirty="0"/>
                    </a:p>
                    <a:p>
                      <a:endParaRPr lang="en-IN" sz="1800" dirty="0"/>
                    </a:p>
                    <a:p>
                      <a:r>
                        <a:rPr lang="en-IN" sz="1800" dirty="0"/>
                        <a:t>Author</a:t>
                      </a:r>
                    </a:p>
                    <a:p>
                      <a:r>
                        <a:rPr lang="en-IN" sz="1800" dirty="0"/>
                        <a:t>Year of Publication</a:t>
                      </a:r>
                    </a:p>
                    <a:p>
                      <a:r>
                        <a:rPr lang="en-IN" sz="1800" dirty="0"/>
                        <a:t>Journal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GB" dirty="0"/>
                        <a:t>A Novel Approach for Client Side Encryption in Cloud Computing 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endParaRPr lang="en-GB" sz="1800" dirty="0"/>
                    </a:p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IN" dirty="0"/>
                        <a:t>Md. </a:t>
                      </a:r>
                      <a:r>
                        <a:rPr lang="en-IN" dirty="0" err="1"/>
                        <a:t>Mahidul</a:t>
                      </a:r>
                      <a:r>
                        <a:rPr lang="en-IN" dirty="0"/>
                        <a:t> Islam</a:t>
                      </a:r>
                      <a:r>
                        <a:rPr lang="en-IN" sz="1800" dirty="0"/>
                        <a:t>, </a:t>
                      </a:r>
                      <a:r>
                        <a:rPr lang="en-IN" dirty="0"/>
                        <a:t>Md. Zahid Hasan </a:t>
                      </a:r>
                      <a:endParaRPr lang="en-IN" sz="1800" dirty="0"/>
                    </a:p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IN" sz="1800" dirty="0"/>
                        <a:t>2019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IN" dirty="0"/>
                        <a:t>IEEE Xplore</a:t>
                      </a:r>
                      <a:endParaRPr lang="en-IN" sz="1800" dirty="0"/>
                    </a:p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endParaRPr lang="en-IN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80109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28987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3620D-230F-F6B5-1EDB-54F7B9037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1" y="365128"/>
            <a:ext cx="7886700" cy="844243"/>
          </a:xfrm>
        </p:spPr>
        <p:txBody>
          <a:bodyPr>
            <a:normAutofit fontScale="90000"/>
          </a:bodyPr>
          <a:lstStyle/>
          <a:p>
            <a:pPr algn="ctr"/>
            <a:r>
              <a:rPr lang="en-I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Literature Review</a:t>
            </a:r>
            <a:br>
              <a:rPr lang="en-IN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D40C5C-137F-270B-76EF-7448C8FF5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b="1" dirty="0"/>
              <a:t>28-09-2024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59112-4CED-EF07-0F0C-E7AEF6C88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EGSPEC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57C2C1-85F3-9E7B-A7D0-B339AEA03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4C6DA-5C11-4692-9E76-4315245659F2}" type="slidenum">
              <a:rPr lang="en-IN" smtClean="0"/>
              <a:t>7</a:t>
            </a:fld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E51E9DC-EB8E-4664-ADB4-9C77A44E89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8292108"/>
              </p:ext>
            </p:extLst>
          </p:nvPr>
        </p:nvGraphicFramePr>
        <p:xfrm>
          <a:off x="720812" y="3265083"/>
          <a:ext cx="7794538" cy="24043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7269">
                  <a:extLst>
                    <a:ext uri="{9D8B030D-6E8A-4147-A177-3AD203B41FA5}">
                      <a16:colId xmlns:a16="http://schemas.microsoft.com/office/drawing/2014/main" val="3360183851"/>
                    </a:ext>
                  </a:extLst>
                </a:gridCol>
                <a:gridCol w="3897269">
                  <a:extLst>
                    <a:ext uri="{9D8B030D-6E8A-4147-A177-3AD203B41FA5}">
                      <a16:colId xmlns:a16="http://schemas.microsoft.com/office/drawing/2014/main" val="4133117074"/>
                    </a:ext>
                  </a:extLst>
                </a:gridCol>
              </a:tblGrid>
              <a:tr h="667005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Journals details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Key points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5814772"/>
                  </a:ext>
                </a:extLst>
              </a:tr>
              <a:tr h="1644666">
                <a:tc>
                  <a:txBody>
                    <a:bodyPr/>
                    <a:lstStyle/>
                    <a:p>
                      <a:r>
                        <a:rPr lang="en-IN" sz="1800" dirty="0"/>
                        <a:t>Title </a:t>
                      </a:r>
                    </a:p>
                    <a:p>
                      <a:endParaRPr lang="en-IN" sz="1800" dirty="0"/>
                    </a:p>
                    <a:p>
                      <a:endParaRPr lang="en-IN" sz="1800" dirty="0"/>
                    </a:p>
                    <a:p>
                      <a:r>
                        <a:rPr lang="en-IN" sz="1800" dirty="0"/>
                        <a:t>Author</a:t>
                      </a:r>
                    </a:p>
                    <a:p>
                      <a:r>
                        <a:rPr lang="en-IN" sz="1800" dirty="0"/>
                        <a:t>Year of Publication</a:t>
                      </a:r>
                    </a:p>
                    <a:p>
                      <a:r>
                        <a:rPr lang="en-IN" sz="1800" dirty="0"/>
                        <a:t>Journal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GB" sz="1800" dirty="0"/>
                        <a:t>Survey of data and storage security in cloud computing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endParaRPr lang="en-GB" sz="1800" dirty="0"/>
                    </a:p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IN" sz="1800" dirty="0" err="1"/>
                        <a:t>S.Rajeswari</a:t>
                      </a:r>
                      <a:r>
                        <a:rPr lang="en-IN" sz="1800" dirty="0"/>
                        <a:t>, </a:t>
                      </a:r>
                      <a:r>
                        <a:rPr lang="en-IN" sz="1800" dirty="0" err="1"/>
                        <a:t>R.Kalaiselvi</a:t>
                      </a:r>
                      <a:r>
                        <a:rPr lang="en-IN" sz="1800" dirty="0"/>
                        <a:t> 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IN" sz="1800" dirty="0"/>
                        <a:t>2017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IN" dirty="0"/>
                        <a:t>IEEE Xplore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801095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E721523-CC1C-4BED-B179-0CC2160539B2}"/>
              </a:ext>
            </a:extLst>
          </p:cNvPr>
          <p:cNvSpPr txBox="1"/>
          <p:nvPr/>
        </p:nvSpPr>
        <p:spPr>
          <a:xfrm>
            <a:off x="720812" y="1489696"/>
            <a:ext cx="7794538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This Study examines of data and storage security in cloud computing, access control and attribute based encryption. It highlights privacy benefits while addressing challenges of computational efficiency and implementation.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9844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3620D-230F-F6B5-1EDB-54F7B9037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1" y="365128"/>
            <a:ext cx="7886700" cy="84424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Feasibility of the proposed project work</a:t>
            </a:r>
            <a:b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8257D-7608-F45D-75AF-999C4F6EFC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823" y="1209371"/>
            <a:ext cx="7955525" cy="4761123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en-GB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Technical Feasibility: 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project is viable given the use of established tools like </a:t>
            </a:r>
            <a:r>
              <a:rPr lang="en-GB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SharpShell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.NET encryption libraries, and Google Drive/OneDrive APIs, ensuring compatibility with personal computers.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GB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Economic Feasibility: 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development process is cost-effective, relying on free or low-cost resources such as development environments and cloud services, with minimal hardware or infrastructure costs.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D40C5C-137F-270B-76EF-7448C8FF5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b="1" dirty="0"/>
              <a:t>28-09-2024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59112-4CED-EF07-0F0C-E7AEF6C88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EGSPEC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57C2C1-85F3-9E7B-A7D0-B339AEA03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4C6DA-5C11-4692-9E76-4315245659F2}" type="slidenum">
              <a:rPr lang="en-IN" smtClean="0"/>
              <a:t>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07578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3620D-230F-F6B5-1EDB-54F7B9037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1" y="365128"/>
            <a:ext cx="7886700" cy="84424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Feasibility of the proposed project work</a:t>
            </a:r>
            <a:b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8257D-7608-F45D-75AF-999C4F6EFC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823" y="1209371"/>
            <a:ext cx="7955525" cy="4761123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en-GB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GB" sz="2400" b="1" dirty="0"/>
              <a:t>Resource Feasibility</a:t>
            </a:r>
            <a:r>
              <a:rPr lang="en-GB" sz="2400" dirty="0"/>
              <a:t>: Required skills and tools (e.g., Visual Studio, C#, Extensions, cloud API knowledge) are readily accessible, ensuring smooth implementation with existing developer expertise.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GB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GB" sz="2400" b="1" dirty="0"/>
              <a:t>Risk Feasibility</a:t>
            </a:r>
            <a:r>
              <a:rPr lang="en-GB" sz="2400" dirty="0"/>
              <a:t>: The project presents manageable risks, such as API changes or security vulnerabilities, which can be mitigated by regular updates and strong encryption practices.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GB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D40C5C-137F-270B-76EF-7448C8FF5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b="1" dirty="0"/>
              <a:t>28-09-2024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59112-4CED-EF07-0F0C-E7AEF6C88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EGSPEC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57C2C1-85F3-9E7B-A7D0-B339AEA03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4C6DA-5C11-4692-9E76-4315245659F2}" type="slidenum">
              <a:rPr lang="en-IN" smtClean="0"/>
              <a:t>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16930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3620D-230F-F6B5-1EDB-54F7B9037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1" y="365128"/>
            <a:ext cx="7886700" cy="844243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Identification of objectives </a:t>
            </a:r>
            <a:b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8257D-7608-F45D-75AF-999C4F6EFC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209370"/>
            <a:ext cx="7886700" cy="4106207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Encryption plugin project involves determining </a:t>
            </a:r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clear and achievable goals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that guide the development.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These objectives outline the specific outcomes, such as secure file encryption, seamless cloud integration </a:t>
            </a:r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Google Drive, OneDrive ..etc 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user-friendly interactions within </a:t>
            </a:r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Windows Explorer or Chrome Extension.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Ensuring the project stays aligned with user needs and technical capabilities. This allows for </a:t>
            </a:r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focused development efforts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optimal use of resources.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D40C5C-137F-270B-76EF-7448C8FF5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b="1" dirty="0"/>
              <a:t>28-09-2024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59112-4CED-EF07-0F0C-E7AEF6C88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EGSPEC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57C2C1-85F3-9E7B-A7D0-B339AEA03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4C6DA-5C11-4692-9E76-4315245659F2}" type="slidenum">
              <a:rPr lang="en-IN" smtClean="0"/>
              <a:t>10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060907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3620D-230F-F6B5-1EDB-54F7B9037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21830"/>
            <a:ext cx="7886700" cy="90177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Methodology of the Proposed Work</a:t>
            </a:r>
            <a:b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8257D-7608-F45D-75AF-999C4F6EFC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096" y="972457"/>
            <a:ext cx="7455807" cy="4871415"/>
          </a:xfrm>
        </p:spPr>
        <p:txBody>
          <a:bodyPr anchor="ctr">
            <a:noAutofit/>
          </a:bodyPr>
          <a:lstStyle/>
          <a:p>
            <a:pPr marL="0" indent="0" algn="just">
              <a:buNone/>
            </a:pPr>
            <a:endParaRPr lang="en-GB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</a:t>
            </a:r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Requirements Analysis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Identifying user needs, cloud provider API and encryption protocols to ensure secure file handling.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</a:t>
            </a:r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Design &amp; Development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Using </a:t>
            </a:r>
            <a:r>
              <a:rPr lang="en-GB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SharpShell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Windows Explorer integration or Chrome Extension APIs for browser functionality, with AES-256 encryption.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</a:t>
            </a:r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Cloud API Integration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Implementing APIs to manage file uploads and downloads, ensuring seamless data transfer.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</a:t>
            </a:r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Testing &amp; Validation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Performing functional and security tests to ensure encryption integrity, cloud compatibility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</a:t>
            </a:r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Deployment &amp; Maintenance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Providing proper documentation, user guides, and ongoing updates.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D40C5C-137F-270B-76EF-7448C8FF5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b="1" dirty="0"/>
              <a:t>28-09-2024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59112-4CED-EF07-0F0C-E7AEF6C88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EGSPEC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57C2C1-85F3-9E7B-A7D0-B339AEA03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4C6DA-5C11-4692-9E76-4315245659F2}" type="slidenum">
              <a:rPr lang="en-IN" smtClean="0"/>
              <a:t>11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14408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DD9A00-49D9-4F07-87B9-6EF2CF28F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28-09-2024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F335B1-5F2C-474F-BD46-E3AD020EA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36921-CE65-47C0-AAD1-DA18824D5944}" type="slidenum">
              <a:rPr lang="en-IN" smtClean="0"/>
              <a:t>12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555B25-63E2-4968-B599-B2096DFC95C8}"/>
              </a:ext>
            </a:extLst>
          </p:cNvPr>
          <p:cNvSpPr txBox="1"/>
          <p:nvPr/>
        </p:nvSpPr>
        <p:spPr>
          <a:xfrm>
            <a:off x="1400628" y="2806691"/>
            <a:ext cx="63427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dirty="0">
                <a:latin typeface="Adventure Subtitles" panose="040B0600000000000000" pitchFamily="8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1058568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484</TotalTime>
  <Words>767</Words>
  <Application>Microsoft Office PowerPoint</Application>
  <PresentationFormat>On-screen Show (4:3)</PresentationFormat>
  <Paragraphs>129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Adventure Subtitles</vt:lpstr>
      <vt:lpstr>Aptos</vt:lpstr>
      <vt:lpstr>Aptos Display</vt:lpstr>
      <vt:lpstr>Arial</vt:lpstr>
      <vt:lpstr>Calibri</vt:lpstr>
      <vt:lpstr>Wingdings</vt:lpstr>
      <vt:lpstr>Office Theme</vt:lpstr>
      <vt:lpstr>Robust  Protection  Plug-in  For Sensitive  Cloud Storage  Data</vt:lpstr>
      <vt:lpstr>Presentation Flow</vt:lpstr>
      <vt:lpstr>Problem Statement</vt:lpstr>
      <vt:lpstr>  Problem Statement</vt:lpstr>
      <vt:lpstr>Literature Review </vt:lpstr>
      <vt:lpstr>Literature Review </vt:lpstr>
      <vt:lpstr>Literature Review </vt:lpstr>
      <vt:lpstr>Feasibility of the proposed project work </vt:lpstr>
      <vt:lpstr>Feasibility of the proposed project work </vt:lpstr>
      <vt:lpstr>Identification of objectives  </vt:lpstr>
      <vt:lpstr>Methodology of the Proposed Work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ROBUST PROTECTION PLUG-IN FOR SENSITIVE CLOUD STORAGE</dc:title>
  <dc:creator>Shyam Sundar</dc:creator>
  <cp:lastModifiedBy>karthikeyan</cp:lastModifiedBy>
  <cp:revision>21</cp:revision>
  <dcterms:created xsi:type="dcterms:W3CDTF">2024-09-25T00:01:58Z</dcterms:created>
  <dcterms:modified xsi:type="dcterms:W3CDTF">2024-10-14T18:38:32Z</dcterms:modified>
</cp:coreProperties>
</file>